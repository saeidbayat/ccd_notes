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363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9BE3308F-09F9-E474-9D7F-648EF794F88A}"/>
              </a:ext>
            </a:extLst>
          </p:cNvPr>
          <p:cNvGrpSpPr/>
          <p:nvPr/>
        </p:nvGrpSpPr>
        <p:grpSpPr>
          <a:xfrm>
            <a:off x="481584" y="1038353"/>
            <a:ext cx="11248136" cy="4298696"/>
            <a:chOff x="481584" y="1038353"/>
            <a:chExt cx="11248136" cy="4298696"/>
          </a:xfrm>
        </p:grpSpPr>
        <p:sp>
          <p:nvSpPr>
            <p:cNvPr id="2" name="Text 0"/>
            <p:cNvSpPr/>
            <p:nvPr/>
          </p:nvSpPr>
          <p:spPr>
            <a:xfrm>
              <a:off x="1318260" y="1038353"/>
              <a:ext cx="9555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700" b="1" dirty="0">
                  <a:solidFill>
                    <a:srgbClr val="123B6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Open-loop and Closed-loop Systems</a:t>
              </a:r>
              <a:endParaRPr lang="en-US" sz="27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2415540" y="1586993"/>
              <a:ext cx="7315200" cy="0"/>
            </a:xfrm>
            <a:prstGeom prst="line">
              <a:avLst/>
            </a:prstGeom>
            <a:noFill/>
            <a:ln w="12700">
              <a:solidFill>
                <a:srgbClr val="D5DE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481584" y="1717040"/>
              <a:ext cx="5212080" cy="3250183"/>
            </a:xfrm>
            <a:prstGeom prst="roundRect">
              <a:avLst>
                <a:gd name="adj" fmla="val 2286"/>
              </a:avLst>
            </a:prstGeom>
            <a:solidFill>
              <a:srgbClr val="FBFDFF"/>
            </a:solidFill>
            <a:ln w="17780">
              <a:solidFill>
                <a:srgbClr val="D5DE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6517640" y="1717038"/>
              <a:ext cx="5212080" cy="3250183"/>
            </a:xfrm>
            <a:prstGeom prst="roundRect">
              <a:avLst>
                <a:gd name="adj" fmla="val 2286"/>
              </a:avLst>
            </a:prstGeom>
            <a:solidFill>
              <a:srgbClr val="FBFDFF"/>
            </a:solidFill>
            <a:ln w="17780">
              <a:solidFill>
                <a:srgbClr val="D5DE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505968" y="1717040"/>
              <a:ext cx="4846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23B63"/>
                  </a:solidFill>
                </a:rPr>
                <a:t>Open-loop system</a:t>
              </a:r>
              <a:endParaRPr lang="en-US" sz="2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668008" y="1773937"/>
              <a:ext cx="4846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23B63"/>
                  </a:solidFill>
                </a:rPr>
                <a:t>Closed-loop system</a:t>
              </a:r>
              <a:endParaRPr lang="en-US" sz="2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755648" y="3035808"/>
              <a:ext cx="274320" cy="0"/>
            </a:xfrm>
            <a:prstGeom prst="line">
              <a:avLst/>
            </a:prstGeom>
            <a:noFill/>
            <a:ln w="29210">
              <a:solidFill>
                <a:srgbClr val="5B677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3299968" y="3025648"/>
              <a:ext cx="274320" cy="0"/>
            </a:xfrm>
            <a:prstGeom prst="line">
              <a:avLst/>
            </a:prstGeom>
            <a:noFill/>
            <a:ln w="29210">
              <a:solidFill>
                <a:srgbClr val="5B677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612640" y="3035808"/>
              <a:ext cx="320040" cy="0"/>
            </a:xfrm>
            <a:prstGeom prst="line">
              <a:avLst/>
            </a:prstGeom>
            <a:noFill/>
            <a:ln w="29210">
              <a:solidFill>
                <a:srgbClr val="5B677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7754112" y="3035808"/>
              <a:ext cx="320040" cy="0"/>
            </a:xfrm>
            <a:prstGeom prst="line">
              <a:avLst/>
            </a:prstGeom>
            <a:noFill/>
            <a:ln w="29210">
              <a:solidFill>
                <a:srgbClr val="5B677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8385048" y="3035808"/>
              <a:ext cx="237744" cy="0"/>
            </a:xfrm>
            <a:prstGeom prst="line">
              <a:avLst/>
            </a:prstGeom>
            <a:noFill/>
            <a:ln w="29210">
              <a:solidFill>
                <a:srgbClr val="5B677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9971024" y="3035808"/>
              <a:ext cx="237744" cy="0"/>
            </a:xfrm>
            <a:prstGeom prst="line">
              <a:avLst/>
            </a:prstGeom>
            <a:noFill/>
            <a:ln w="29210">
              <a:solidFill>
                <a:srgbClr val="5B677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11267440" y="3035808"/>
              <a:ext cx="228600" cy="0"/>
            </a:xfrm>
            <a:prstGeom prst="line">
              <a:avLst/>
            </a:prstGeom>
            <a:noFill/>
            <a:ln w="29210">
              <a:solidFill>
                <a:srgbClr val="5B677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11300460" y="3630167"/>
              <a:ext cx="0" cy="0"/>
            </a:xfrm>
            <a:prstGeom prst="line">
              <a:avLst/>
            </a:prstGeom>
            <a:noFill/>
            <a:ln w="25400">
              <a:solidFill>
                <a:srgbClr val="2D6EA8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804672" y="2587752"/>
              <a:ext cx="932688" cy="896112"/>
            </a:xfrm>
            <a:prstGeom prst="roundRect">
              <a:avLst>
                <a:gd name="adj" fmla="val 12245"/>
              </a:avLst>
            </a:prstGeom>
            <a:solidFill>
              <a:srgbClr val="FFFFFF"/>
            </a:solidFill>
            <a:ln w="17780">
              <a:solidFill>
                <a:srgbClr val="5B67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877824" y="2697480"/>
              <a:ext cx="786384" cy="67665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5B677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Reference</a:t>
              </a:r>
              <a:endParaRPr lang="en-US" sz="1150" dirty="0"/>
            </a:p>
            <a:p>
              <a:pPr marL="0" indent="0" algn="ctr">
                <a:buNone/>
              </a:pPr>
              <a:r>
                <a:rPr lang="en-US" sz="1150" dirty="0">
                  <a:solidFill>
                    <a:srgbClr val="5B677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</a:t>
              </a:r>
              <a:endParaRPr lang="en-US" sz="11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057400" y="2542032"/>
              <a:ext cx="1115568" cy="987552"/>
            </a:xfrm>
            <a:prstGeom prst="roundRect">
              <a:avLst>
                <a:gd name="adj" fmla="val 11111"/>
              </a:avLst>
            </a:prstGeom>
            <a:solidFill>
              <a:srgbClr val="FFF3DE"/>
            </a:solidFill>
            <a:ln w="17780">
              <a:solidFill>
                <a:srgbClr val="D9790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2130552" y="2651760"/>
              <a:ext cx="969264" cy="7680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23B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Controller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dirty="0">
                  <a:solidFill>
                    <a:srgbClr val="123B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command</a:t>
              </a:r>
              <a:endParaRPr lang="en-US" sz="12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652520" y="2542032"/>
              <a:ext cx="914400" cy="987552"/>
            </a:xfrm>
            <a:prstGeom prst="roundRect">
              <a:avLst>
                <a:gd name="adj" fmla="val 12000"/>
              </a:avLst>
            </a:prstGeom>
            <a:solidFill>
              <a:srgbClr val="EAF4FF"/>
            </a:solidFill>
            <a:ln w="17780">
              <a:solidFill>
                <a:srgbClr val="123B6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3725672" y="2651760"/>
              <a:ext cx="768096" cy="7680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23B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Plant</a:t>
              </a:r>
              <a:endParaRPr lang="en-US" sz="15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65424" y="2729484"/>
              <a:ext cx="292608" cy="2286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2700">
              <a:solidFill>
                <a:srgbClr val="D9790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3283712" y="2738628"/>
              <a:ext cx="256032" cy="210312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9790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620768" y="2740152"/>
              <a:ext cx="292608" cy="2286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2700">
              <a:solidFill>
                <a:srgbClr val="123B6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4639056" y="2739136"/>
              <a:ext cx="256032" cy="210312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23B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y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17728" y="4045712"/>
              <a:ext cx="4526280" cy="786384"/>
            </a:xfrm>
            <a:prstGeom prst="roundRect">
              <a:avLst>
                <a:gd name="adj" fmla="val 13953"/>
              </a:avLst>
            </a:prstGeom>
            <a:solidFill>
              <a:srgbClr val="FFFFFF"/>
            </a:solidFill>
            <a:ln w="17780">
              <a:solidFill>
                <a:srgbClr val="5B67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800608" y="4201160"/>
              <a:ext cx="4160520" cy="4114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677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 output measurement is used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5B677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to correct the command after operation begins.</a:t>
              </a:r>
              <a:endParaRPr lang="en-US" sz="1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799072" y="2587752"/>
              <a:ext cx="960120" cy="896112"/>
            </a:xfrm>
            <a:prstGeom prst="roundRect">
              <a:avLst>
                <a:gd name="adj" fmla="val 12245"/>
              </a:avLst>
            </a:prstGeom>
            <a:solidFill>
              <a:srgbClr val="FFFFFF"/>
            </a:solidFill>
            <a:ln w="17780">
              <a:solidFill>
                <a:srgbClr val="5B67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6872224" y="2697480"/>
              <a:ext cx="813816" cy="67665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5B677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Reference</a:t>
              </a:r>
              <a:endParaRPr lang="en-US" sz="1150" dirty="0"/>
            </a:p>
            <a:p>
              <a:pPr marL="0" indent="0" algn="ctr">
                <a:buNone/>
              </a:pPr>
              <a:r>
                <a:rPr lang="en-US" sz="1150" dirty="0">
                  <a:solidFill>
                    <a:srgbClr val="5B677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</a:t>
              </a:r>
              <a:endParaRPr lang="en-US" sz="11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065008" y="2860040"/>
              <a:ext cx="329184" cy="329184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5B67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7991856" y="2945384"/>
              <a:ext cx="2926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B6775"/>
                  </a:solidFill>
                </a:rPr>
                <a:t>+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659368" y="2542032"/>
              <a:ext cx="1234440" cy="987552"/>
            </a:xfrm>
            <a:prstGeom prst="roundRect">
              <a:avLst>
                <a:gd name="adj" fmla="val 11111"/>
              </a:avLst>
            </a:prstGeom>
            <a:solidFill>
              <a:srgbClr val="FFF3DE"/>
            </a:solidFill>
            <a:ln w="17780">
              <a:solidFill>
                <a:srgbClr val="D9790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8732520" y="2651760"/>
              <a:ext cx="1088136" cy="7680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23B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Controller</a:t>
              </a:r>
              <a:endParaRPr lang="en-US" sz="13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0296144" y="2542032"/>
              <a:ext cx="932688" cy="987552"/>
            </a:xfrm>
            <a:prstGeom prst="roundRect">
              <a:avLst>
                <a:gd name="adj" fmla="val 11765"/>
              </a:avLst>
            </a:prstGeom>
            <a:solidFill>
              <a:srgbClr val="EAF4FF"/>
            </a:solidFill>
            <a:ln w="17780">
              <a:solidFill>
                <a:srgbClr val="123B6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10369296" y="2651760"/>
              <a:ext cx="786384" cy="7680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23B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Plant</a:t>
              </a:r>
              <a:endParaRPr lang="en-US" sz="15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9948672" y="2729484"/>
              <a:ext cx="292608" cy="2286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2700">
              <a:solidFill>
                <a:srgbClr val="D9790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9966960" y="2738628"/>
              <a:ext cx="256032" cy="210312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9790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</a:t>
              </a:r>
              <a:endParaRPr lang="en-US" sz="10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11283696" y="2729484"/>
              <a:ext cx="292608" cy="2286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2700">
              <a:solidFill>
                <a:srgbClr val="123B6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11301984" y="2738628"/>
              <a:ext cx="256032" cy="210312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23B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y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9166860" y="3758184"/>
              <a:ext cx="1143000" cy="2286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2700">
              <a:solidFill>
                <a:srgbClr val="2D6E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41"/>
            <p:cNvSpPr/>
            <p:nvPr/>
          </p:nvSpPr>
          <p:spPr>
            <a:xfrm>
              <a:off x="9185148" y="3767328"/>
              <a:ext cx="1106424" cy="210312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2D6EA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measured output</a:t>
              </a:r>
              <a:endParaRPr lang="en-US" sz="8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801612" y="4056887"/>
              <a:ext cx="4590288" cy="786384"/>
            </a:xfrm>
            <a:prstGeom prst="roundRect">
              <a:avLst>
                <a:gd name="adj" fmla="val 13953"/>
              </a:avLst>
            </a:prstGeom>
            <a:solidFill>
              <a:srgbClr val="FFFFFF"/>
            </a:solidFill>
            <a:ln w="17780">
              <a:solidFill>
                <a:srgbClr val="5B67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43"/>
            <p:cNvSpPr/>
            <p:nvPr/>
          </p:nvSpPr>
          <p:spPr>
            <a:xfrm>
              <a:off x="6975348" y="4203191"/>
              <a:ext cx="4242816" cy="4297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677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The measured output is fed back so the controller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5B677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can respond to disturbances and modeling error.</a:t>
              </a:r>
              <a:endParaRPr lang="en-US" sz="11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1432560" y="5044441"/>
              <a:ext cx="93268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23B6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Key difference: feedback turns output information into corrective action.</a:t>
              </a:r>
              <a:endParaRPr lang="en-US" sz="1500" dirty="0"/>
            </a:p>
          </p:txBody>
        </p:sp>
        <p:sp>
          <p:nvSpPr>
            <p:cNvPr id="47" name="Text 31">
              <a:extLst>
                <a:ext uri="{FF2B5EF4-FFF2-40B4-BE49-F238E27FC236}">
                  <a16:creationId xmlns:a16="http://schemas.microsoft.com/office/drawing/2014/main" id="{D4AD8486-5149-1FE9-A5CB-C97BDE6FD58A}"/>
                </a:ext>
              </a:extLst>
            </p:cNvPr>
            <p:cNvSpPr/>
            <p:nvPr/>
          </p:nvSpPr>
          <p:spPr>
            <a:xfrm>
              <a:off x="8083296" y="3035808"/>
              <a:ext cx="2926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B6775"/>
                  </a:solidFill>
                </a:rPr>
                <a:t>-</a:t>
              </a:r>
              <a:endParaRPr lang="en-US" sz="1000" dirty="0"/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8CC3D0C8-3810-F3B3-DC63-D8C15A240A6A}"/>
                </a:ext>
              </a:extLst>
            </p:cNvPr>
            <p:cNvCxnSpPr>
              <a:endCxn id="47" idx="2"/>
            </p:cNvCxnSpPr>
            <p:nvPr/>
          </p:nvCxnSpPr>
          <p:spPr>
            <a:xfrm rot="10800000" flipV="1">
              <a:off x="8229600" y="3035808"/>
              <a:ext cx="3273552" cy="182880"/>
            </a:xfrm>
            <a:prstGeom prst="bentConnector4">
              <a:avLst>
                <a:gd name="adj1" fmla="val -3135"/>
                <a:gd name="adj2" fmla="val 369444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67</Words>
  <Application>Microsoft Macintosh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Open-loop vs Closed-loop Systems</dc:title>
  <dc:subject>Open-loop and closed-loop system diagram</dc:subject>
  <dc:creator>OpenAI</dc:creator>
  <cp:lastModifiedBy>Bayat, Saeid</cp:lastModifiedBy>
  <cp:revision>2</cp:revision>
  <dcterms:created xsi:type="dcterms:W3CDTF">2026-07-18T01:05:56Z</dcterms:created>
  <dcterms:modified xsi:type="dcterms:W3CDTF">2026-07-18T01:34:28Z</dcterms:modified>
</cp:coreProperties>
</file>